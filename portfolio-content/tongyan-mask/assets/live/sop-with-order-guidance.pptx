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3ab6bcf4754438" /><Relationship Type="http://schemas.openxmlformats.org/officeDocument/2006/relationships/extended-properties" Target="/docProps/app.xml" Id="R1361f41f48e94801" /><Relationship Type="http://schemas.openxmlformats.org/officeDocument/2006/relationships/officeDocument" Target="/ppt/presentation.xml" Id="R63b48e39eda7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6cc74dc9474344"/>
  </p:sldMasterIdLst>
  <p:notesMasterIdLst>
    <p:notesMasterId xmlns:r="http://schemas.openxmlformats.org/officeDocument/2006/relationships" r:id="R781ba2f60d27469f"/>
  </p:notesMasterIdLst>
  <p:sldIdLst>
    <p:sldId xmlns:r="http://schemas.openxmlformats.org/officeDocument/2006/relationships" id="256" r:id="Rc3555a9b0c9a407c"/>
  </p:sldIdLst>
  <p:sldSz cx="17449800" cy="981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a59d56a8a348a1" /><Relationship Type="http://schemas.openxmlformats.org/officeDocument/2006/relationships/slideMaster" Target="/ppt/slideMasters/slideMaster1.xml" Id="R196cc74dc9474344" /><Relationship Type="http://schemas.openxmlformats.org/officeDocument/2006/relationships/notesMaster" Target="/ppt/notesMasters/notesMaster1.xml" Id="R781ba2f60d27469f" /><Relationship Type="http://schemas.openxmlformats.org/officeDocument/2006/relationships/presProps" Target="/ppt/presProps.xml" Id="R0f823eb560f64f79" /><Relationship Type="http://schemas.openxmlformats.org/officeDocument/2006/relationships/tableStyles" Target="/ppt/tableStyles.xml" Id="R0ab415ae10884206" /><Relationship Type="http://schemas.openxmlformats.org/officeDocument/2006/relationships/slide" Target="/ppt/slides/slide1.xml" Id="Rc3555a9b0c9a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5e0bc8e09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7ed47752641fc" /><Relationship Type="http://schemas.openxmlformats.org/officeDocument/2006/relationships/notesMaster" Target="/ppt/notesMasters/notesMaster1.xml" Id="R40ff16f8b73847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童颜面膜直播转写截图（00:00至约11:20，以及补充的16:24至22:37附近内容）及版式参考截图。此页为案例话术拆解与SOP整理，不宣称产品功效已核验，不宣称实际转化增长。补充片段展示：1号链接反复定位，1380元一单与2760元两单的报价，赠品及价差对比，新客一单、老客两单的分层推荐，30秒、20秒、10秒的倒数以及名额提示，七天无理由、正品、保价和一对一使用指导等售后表述。价格、库存及售后仅复述话术，具体规则以实际商品页面为准。所谓价值4000元赠品与节省600/1200元均为原话术宣传口径，未核实。图中以结构归纳概括重复出现的片段，不代表严格逐秒顺序。目标人群基于原话术提及的年龄与诉求推断。正文、节点与分支均为可编辑对象，图标截取自用户提供的版式参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590b8a3ef4c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3b3f7a89b40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a00b29f4947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2835b5af544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db649291a45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585fe1d20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A5D87B-0303-46F9-A15B-FF3E26F07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44980" y="3706283"/>
            <a:ext cx="13959840" cy="1417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95ED81-C4A7-448D-8812-5E8AFE308C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17470" y="5395913"/>
            <a:ext cx="12214860" cy="109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9AAC5D-EB2E-40EB-9E56-D79615443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44980" y="4087813"/>
            <a:ext cx="13959840" cy="16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BABB66-BFB5-46D2-A795-DFE702462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1551" y="763058"/>
            <a:ext cx="15486697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F8D64C-33A9-4022-AD92-DDF91BD637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1551" y="2725208"/>
            <a:ext cx="15486697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0A3D32-C556-48E9-8DA8-4124ED36C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1551" y="763058"/>
            <a:ext cx="15486697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CF4934-80C7-4F32-AAB8-D44D28681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1551" y="2725208"/>
            <a:ext cx="7198042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E84FD9-876C-489E-AAD5-8EBBDBDE02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270206" y="2725208"/>
            <a:ext cx="7198042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3EE61F-5509-4D6B-B1DC-C947D94C1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1551" y="763058"/>
            <a:ext cx="15486697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5D5E63-2CBB-4191-9059-41F0580AA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1551" y="2725208"/>
            <a:ext cx="7198042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1d39fd3aa14b69" /><Relationship Type="http://schemas.openxmlformats.org/officeDocument/2006/relationships/slideLayout" Target="/ppt/slideLayouts/slideLayout1.xml" Id="R668a01224ec54532" /><Relationship Type="http://schemas.openxmlformats.org/officeDocument/2006/relationships/slideLayout" Target="/ppt/slideLayouts/slideLayout2.xml" Id="R58dece5ba33140ef" /><Relationship Type="http://schemas.openxmlformats.org/officeDocument/2006/relationships/slideLayout" Target="/ppt/slideLayouts/slideLayout3.xml" Id="Rcca821cc55e946f3" /><Relationship Type="http://schemas.openxmlformats.org/officeDocument/2006/relationships/slideLayout" Target="/ppt/slideLayouts/slideLayout4.xml" Id="R14fa0c6859594956" /><Relationship Type="http://schemas.openxmlformats.org/officeDocument/2006/relationships/slideLayout" Target="/ppt/slideLayouts/slideLayout5.xml" Id="R423b3371b28f4151" /><Relationship Type="http://schemas.openxmlformats.org/officeDocument/2006/relationships/slideLayout" Target="/ppt/slideLayouts/slideLayout6.xml" Id="Rc42ff8f88053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a01224ec54532"/>
    <p:sldLayoutId xmlns:r="http://schemas.openxmlformats.org/officeDocument/2006/relationships" id="2147483650" r:id="R58dece5ba33140ef"/>
    <p:sldLayoutId xmlns:r="http://schemas.openxmlformats.org/officeDocument/2006/relationships" id="2147483651" r:id="Rcca821cc55e946f3"/>
    <p:sldLayoutId xmlns:r="http://schemas.openxmlformats.org/officeDocument/2006/relationships" id="2147483652" r:id="R14fa0c6859594956"/>
    <p:sldLayoutId xmlns:r="http://schemas.openxmlformats.org/officeDocument/2006/relationships" id="2147483653" r:id="R423b3371b28f4151"/>
    <p:sldLayoutId xmlns:r="http://schemas.openxmlformats.org/officeDocument/2006/relationships" id="2147483654" r:id="Rc42ff8f88053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6c611d0594d57" /><Relationship Type="http://schemas.openxmlformats.org/officeDocument/2006/relationships/image" Target="/ppt/media/image.png" Id="R4b7051ae10cd4d1b" /><Relationship Type="http://schemas.openxmlformats.org/officeDocument/2006/relationships/image" Target="/ppt/media/image2.png" Id="R3e7dc4df18534493" /><Relationship Type="http://schemas.openxmlformats.org/officeDocument/2006/relationships/image" Target="/ppt/media/image3.png" Id="R348f3376fa224f76" /><Relationship Type="http://schemas.openxmlformats.org/officeDocument/2006/relationships/notesSlide" Target="/ppt/notesSlides/notesSlide1.xml" Id="Reba56754f2f843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步骤12分支">
            <a:extLst xmlns:a="http://schemas.openxmlformats.org/drawingml/2006/main">
              <a:ext uri="{FF2B5EF4-FFF2-40B4-BE49-F238E27FC236}">
                <a16:creationId xmlns:a16="http://schemas.microsoft.com/office/drawing/2014/main" id="{B3FD851D-B269-4606-BECC-2DC84ED7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162050" cy="3419475"/>
          </a:xfrm>
          <a:custGeom xmlns:a="http://schemas.openxmlformats.org/drawingml/2006/main">
            <a:pathLst>
              <a:path w="1162050" h="3419475">
                <a:moveTo>
                  <a:pt x="0" y="0"/>
                </a:moveTo>
                <a:cubicBezTo>
                  <a:pt x="428625" y="0"/>
                  <a:pt x="619125" y="3419475"/>
                  <a:pt x="1028700" y="3419475"/>
                </a:cubicBezTo>
                <a:lnTo>
                  <a:pt x="1162050" y="34194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53" name="步骤11分支">
            <a:extLst xmlns:a="http://schemas.openxmlformats.org/drawingml/2006/main">
              <a:ext uri="{FF2B5EF4-FFF2-40B4-BE49-F238E27FC236}">
                <a16:creationId xmlns:a16="http://schemas.microsoft.com/office/drawing/2014/main" id="{899207CA-5EC2-4BFF-A274-4821118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162050" cy="2790825"/>
          </a:xfrm>
          <a:custGeom xmlns:a="http://schemas.openxmlformats.org/drawingml/2006/main">
            <a:pathLst>
              <a:path w="1162050" h="2790825">
                <a:moveTo>
                  <a:pt x="0" y="0"/>
                </a:moveTo>
                <a:cubicBezTo>
                  <a:pt x="428625" y="0"/>
                  <a:pt x="619125" y="2790825"/>
                  <a:pt x="1028700" y="2790825"/>
                </a:cubicBezTo>
                <a:lnTo>
                  <a:pt x="1162050" y="279082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49" name="步骤10分支">
            <a:extLst xmlns:a="http://schemas.openxmlformats.org/drawingml/2006/main">
              <a:ext uri="{FF2B5EF4-FFF2-40B4-BE49-F238E27FC236}">
                <a16:creationId xmlns:a16="http://schemas.microsoft.com/office/drawing/2014/main" id="{EFE172AB-CA19-4F6C-8FB5-1BEAFE7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162050" cy="2162175"/>
          </a:xfrm>
          <a:custGeom xmlns:a="http://schemas.openxmlformats.org/drawingml/2006/main">
            <a:pathLst>
              <a:path w="1162050" h="2162175">
                <a:moveTo>
                  <a:pt x="0" y="0"/>
                </a:moveTo>
                <a:cubicBezTo>
                  <a:pt x="428625" y="0"/>
                  <a:pt x="619125" y="2162175"/>
                  <a:pt x="1028700" y="2162175"/>
                </a:cubicBezTo>
                <a:lnTo>
                  <a:pt x="1162050" y="21621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45" name="步骤9分支">
            <a:extLst xmlns:a="http://schemas.openxmlformats.org/drawingml/2006/main">
              <a:ext uri="{FF2B5EF4-FFF2-40B4-BE49-F238E27FC236}">
                <a16:creationId xmlns:a16="http://schemas.microsoft.com/office/drawing/2014/main" id="{38A869CF-8B85-4565-A8E0-CD30564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162050" cy="1533525"/>
          </a:xfrm>
          <a:custGeom xmlns:a="http://schemas.openxmlformats.org/drawingml/2006/main">
            <a:pathLst>
              <a:path w="1162050" h="1533525">
                <a:moveTo>
                  <a:pt x="0" y="0"/>
                </a:moveTo>
                <a:cubicBezTo>
                  <a:pt x="428625" y="0"/>
                  <a:pt x="619125" y="1533525"/>
                  <a:pt x="1028700" y="1533525"/>
                </a:cubicBezTo>
                <a:lnTo>
                  <a:pt x="1162050" y="153352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41" name="步骤8分支">
            <a:extLst xmlns:a="http://schemas.openxmlformats.org/drawingml/2006/main">
              <a:ext uri="{FF2B5EF4-FFF2-40B4-BE49-F238E27FC236}">
                <a16:creationId xmlns:a16="http://schemas.microsoft.com/office/drawing/2014/main" id="{311C98A4-8D7C-443B-850D-90AD0490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162050" cy="904875"/>
          </a:xfrm>
          <a:custGeom xmlns:a="http://schemas.openxmlformats.org/drawingml/2006/main">
            <a:pathLst>
              <a:path w="1162050" h="904875">
                <a:moveTo>
                  <a:pt x="0" y="0"/>
                </a:moveTo>
                <a:cubicBezTo>
                  <a:pt x="428625" y="0"/>
                  <a:pt x="619125" y="904875"/>
                  <a:pt x="1028700" y="904875"/>
                </a:cubicBezTo>
                <a:lnTo>
                  <a:pt x="1162050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37" name="步骤7分支">
            <a:extLst xmlns:a="http://schemas.openxmlformats.org/drawingml/2006/main">
              <a:ext uri="{FF2B5EF4-FFF2-40B4-BE49-F238E27FC236}">
                <a16:creationId xmlns:a16="http://schemas.microsoft.com/office/drawing/2014/main" id="{5146531B-97D4-409B-9A26-0D72BD90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219700"/>
            <a:ext cx="1162050" cy="276225"/>
          </a:xfrm>
          <a:custGeom xmlns:a="http://schemas.openxmlformats.org/drawingml/2006/main">
            <a:pathLst>
              <a:path w="1162050" h="276225">
                <a:moveTo>
                  <a:pt x="0" y="0"/>
                </a:moveTo>
                <a:cubicBezTo>
                  <a:pt x="428625" y="0"/>
                  <a:pt x="619125" y="276225"/>
                  <a:pt x="1028700" y="276225"/>
                </a:cubicBezTo>
                <a:lnTo>
                  <a:pt x="11620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33" name="步骤6分支">
            <a:extLst xmlns:a="http://schemas.openxmlformats.org/drawingml/2006/main">
              <a:ext uri="{FF2B5EF4-FFF2-40B4-BE49-F238E27FC236}">
                <a16:creationId xmlns:a16="http://schemas.microsoft.com/office/drawing/2014/main" id="{098AF573-BADC-45EE-A296-EE75CC1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67275"/>
            <a:ext cx="1162050" cy="352425"/>
          </a:xfrm>
          <a:custGeom xmlns:a="http://schemas.openxmlformats.org/drawingml/2006/main">
            <a:pathLst>
              <a:path w="1162050" h="352425">
                <a:moveTo>
                  <a:pt x="0" y="352425"/>
                </a:moveTo>
                <a:cubicBezTo>
                  <a:pt x="428625" y="352425"/>
                  <a:pt x="619125" y="0"/>
                  <a:pt x="1028700" y="0"/>
                </a:cubicBez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29" name="步骤5分支">
            <a:extLst xmlns:a="http://schemas.openxmlformats.org/drawingml/2006/main">
              <a:ext uri="{FF2B5EF4-FFF2-40B4-BE49-F238E27FC236}">
                <a16:creationId xmlns:a16="http://schemas.microsoft.com/office/drawing/2014/main" id="{7544391E-7818-4D3E-AD37-84A12864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38625"/>
            <a:ext cx="1162050" cy="981075"/>
          </a:xfrm>
          <a:custGeom xmlns:a="http://schemas.openxmlformats.org/drawingml/2006/main">
            <a:pathLst>
              <a:path w="1162050" h="981075">
                <a:moveTo>
                  <a:pt x="0" y="981075"/>
                </a:moveTo>
                <a:cubicBezTo>
                  <a:pt x="428625" y="981075"/>
                  <a:pt x="619125" y="0"/>
                  <a:pt x="1028700" y="0"/>
                </a:cubicBez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25" name="步骤4分支">
            <a:extLst xmlns:a="http://schemas.openxmlformats.org/drawingml/2006/main">
              <a:ext uri="{FF2B5EF4-FFF2-40B4-BE49-F238E27FC236}">
                <a16:creationId xmlns:a16="http://schemas.microsoft.com/office/drawing/2014/main" id="{7193E429-1CD2-4D46-8B2E-05340E5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09975"/>
            <a:ext cx="1162050" cy="1609725"/>
          </a:xfrm>
          <a:custGeom xmlns:a="http://schemas.openxmlformats.org/drawingml/2006/main">
            <a:pathLst>
              <a:path w="1162050" h="1609725">
                <a:moveTo>
                  <a:pt x="0" y="1609725"/>
                </a:moveTo>
                <a:cubicBezTo>
                  <a:pt x="428625" y="1609725"/>
                  <a:pt x="619125" y="0"/>
                  <a:pt x="1028700" y="0"/>
                </a:cubicBez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21" name="步骤3分支">
            <a:extLst xmlns:a="http://schemas.openxmlformats.org/drawingml/2006/main">
              <a:ext uri="{FF2B5EF4-FFF2-40B4-BE49-F238E27FC236}">
                <a16:creationId xmlns:a16="http://schemas.microsoft.com/office/drawing/2014/main" id="{74B911E3-B2E9-4C1A-B841-4C297D53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81325"/>
            <a:ext cx="1162050" cy="2238375"/>
          </a:xfrm>
          <a:custGeom xmlns:a="http://schemas.openxmlformats.org/drawingml/2006/main">
            <a:pathLst>
              <a:path w="1162050" h="2238375">
                <a:moveTo>
                  <a:pt x="0" y="2238375"/>
                </a:moveTo>
                <a:cubicBezTo>
                  <a:pt x="428625" y="2238375"/>
                  <a:pt x="619125" y="0"/>
                  <a:pt x="1028700" y="0"/>
                </a:cubicBez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17" name="步骤2分支">
            <a:extLst xmlns:a="http://schemas.openxmlformats.org/drawingml/2006/main">
              <a:ext uri="{FF2B5EF4-FFF2-40B4-BE49-F238E27FC236}">
                <a16:creationId xmlns:a16="http://schemas.microsoft.com/office/drawing/2014/main" id="{D19A07CB-EF52-4926-8BDC-F5987170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52675"/>
            <a:ext cx="1162050" cy="2867025"/>
          </a:xfrm>
          <a:custGeom xmlns:a="http://schemas.openxmlformats.org/drawingml/2006/main">
            <a:pathLst>
              <a:path w="1162050" h="2867025">
                <a:moveTo>
                  <a:pt x="0" y="2867025"/>
                </a:moveTo>
                <a:cubicBezTo>
                  <a:pt x="428625" y="2867025"/>
                  <a:pt x="619125" y="0"/>
                  <a:pt x="1028700" y="0"/>
                </a:cubicBez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13" name="步骤1分支">
            <a:extLst xmlns:a="http://schemas.openxmlformats.org/drawingml/2006/main">
              <a:ext uri="{FF2B5EF4-FFF2-40B4-BE49-F238E27FC236}">
                <a16:creationId xmlns:a16="http://schemas.microsoft.com/office/drawing/2014/main" id="{9C0D6DDD-2370-4D50-972A-AB989092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724025"/>
            <a:ext cx="1162050" cy="3495675"/>
          </a:xfrm>
          <a:custGeom xmlns:a="http://schemas.openxmlformats.org/drawingml/2006/main">
            <a:pathLst>
              <a:path w="1162050" h="3495675">
                <a:moveTo>
                  <a:pt x="0" y="3495675"/>
                </a:moveTo>
                <a:cubicBezTo>
                  <a:pt x="428625" y="3495675"/>
                  <a:pt x="619125" y="0"/>
                  <a:pt x="1028700" y="0"/>
                </a:cubicBez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929292"/>
            </a:solidFill>
            <a:prstDash val="solid"/>
          </a:ln>
        </p:spPr>
      </p:sp>
      <p:sp>
        <p:nvSpPr>
          <p:cNvPr id="61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ED42811-DBF2-46AB-BADC-C83ADF7F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1381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童颜面膜2.0 直播话术 SOP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BF536-93F1-4398-9A68-8FC9D0CC90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051ae10cd4d1b"/>
          <a:stretch xmlns:a="http://schemas.openxmlformats.org/drawingml/2006/main"/>
        </p:blipFill>
        <p:spPr>
          <a:xfrm xmlns:a="http://schemas.openxmlformats.org/drawingml/2006/main">
            <a:off x="1028700" y="1782128"/>
            <a:ext cx="647700" cy="712470"/>
          </a:xfrm>
          <a:prstGeom xmlns:a="http://schemas.openxmlformats.org/drawingml/2006/main" prst="rect">
            <a:avLst/>
          </a:prstGeom>
        </p:spPr>
      </p:pic>
      <p:sp>
        <p:nvSpPr>
          <p:cNvPr id="3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7F77E9C0-1B00-4BD6-A0D9-9CD8AD71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478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项目背景</a:t>
            </a:r>
          </a:p>
        </p:txBody>
      </p:sp>
      <p:sp>
        <p:nvSpPr>
          <p:cNvPr id="4" name="项目背景说明">
            <a:extLst xmlns:a="http://schemas.openxmlformats.org/drawingml/2006/main">
              <a:ext uri="{FF2B5EF4-FFF2-40B4-BE49-F238E27FC236}">
                <a16:creationId xmlns:a16="http://schemas.microsoft.com/office/drawing/2014/main" id="{75A4B7D4-8126-41AF-9117-FD100642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4810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围绕童颜面膜2.0升级沟通，面向关注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皱纹、松弛与暗沉等问题的熟龄消费者，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梳理高客单价产品的直播讲解路径，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回应用户对效果依据与价格价值的疑问。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21930-2460-4A8E-A6D1-3BEF734E2E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dc4df18534493"/>
          <a:stretch xmlns:a="http://schemas.openxmlformats.org/drawingml/2006/main"/>
        </p:blipFill>
        <p:spPr>
          <a:xfrm xmlns:a="http://schemas.openxmlformats.org/drawingml/2006/main">
            <a:off x="1028700" y="4094124"/>
            <a:ext cx="685800" cy="593802"/>
          </a:xfrm>
          <a:prstGeom xmlns:a="http://schemas.openxmlformats.org/drawingml/2006/main" prst="rect">
            <a:avLst/>
          </a:prstGeom>
        </p:spPr>
      </p:pic>
      <p:sp>
        <p:nvSpPr>
          <p:cNvPr id="6" name="沟通目标">
            <a:extLst xmlns:a="http://schemas.openxmlformats.org/drawingml/2006/main">
              <a:ext uri="{FF2B5EF4-FFF2-40B4-BE49-F238E27FC236}">
                <a16:creationId xmlns:a16="http://schemas.microsoft.com/office/drawing/2014/main" id="{42289AB0-E623-4497-AF05-5F4512DB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沟通目标</a:t>
            </a:r>
          </a:p>
        </p:txBody>
      </p:sp>
      <p:sp>
        <p:nvSpPr>
          <p:cNvPr id="7" name="沟通目标说明">
            <a:extLst xmlns:a="http://schemas.openxmlformats.org/drawingml/2006/main">
              <a:ext uri="{FF2B5EF4-FFF2-40B4-BE49-F238E27FC236}">
                <a16:creationId xmlns:a16="http://schemas.microsoft.com/office/drawing/2014/main" id="{E4B5CC59-FDF7-40CF-B132-D533F670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4810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建立产品信任，解释新品升级价值。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通过明确的链接指令及新老客分层推荐，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帮助用户选择购买方案，以价格权益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推动决策，并用售后说明回应购买顾虑。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A6A7A-7A9C-4067-ACCA-7E5AABB22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3376fa224f76"/>
          <a:stretch xmlns:a="http://schemas.openxmlformats.org/drawingml/2006/main"/>
        </p:blipFill>
        <p:spPr>
          <a:xfrm xmlns:a="http://schemas.openxmlformats.org/drawingml/2006/main">
            <a:off x="1054100" y="6391275"/>
            <a:ext cx="6350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策划思路">
            <a:extLst xmlns:a="http://schemas.openxmlformats.org/drawingml/2006/main">
              <a:ext uri="{FF2B5EF4-FFF2-40B4-BE49-F238E27FC236}">
                <a16:creationId xmlns:a16="http://schemas.microsoft.com/office/drawing/2014/main" id="{DE940050-732D-4E7D-9080-30B2D0DF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579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策划思路</a:t>
            </a:r>
          </a:p>
        </p:txBody>
      </p:sp>
      <p:sp>
        <p:nvSpPr>
          <p:cNvPr id="10" name="策划思路说明">
            <a:extLst xmlns:a="http://schemas.openxmlformats.org/drawingml/2006/main">
              <a:ext uri="{FF2B5EF4-FFF2-40B4-BE49-F238E27FC236}">
                <a16:creationId xmlns:a16="http://schemas.microsoft.com/office/drawing/2014/main" id="{1B196AB1-67CA-4733-AAE5-EDE6A63E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48500"/>
            <a:ext cx="4810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先建立信任并讲清升级价值，再通过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价格对比和赠品加码形成购买理由。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重复定位1号链接，按新老客分层推荐，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配合倒数与名额提示推动下单，最后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8383"/>
                </a:solidFill>
                <a:latin typeface="PingFang SC"/>
                <a:ea typeface="PingFang SC"/>
                <a:cs typeface="PingFang SC"/>
              </a:rPr>
              <a:t>用售后保障和使用指导回应购买顾虑。</a:t>
            </a:r>
          </a:p>
        </p:txBody>
      </p:sp>
      <p:sp>
        <p:nvSpPr>
          <p:cNvPr id="11" name="SOP中心主题">
            <a:extLst xmlns:a="http://schemas.openxmlformats.org/drawingml/2006/main">
              <a:ext uri="{FF2B5EF4-FFF2-40B4-BE49-F238E27FC236}">
                <a16:creationId xmlns:a16="http://schemas.microsoft.com/office/drawing/2014/main" id="{59A3BD02-4E8E-4CCC-9703-BACD516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0125"/>
            <a:ext cx="3333750" cy="81915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BDBD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童颜面膜2.0</a:t>
            </a:r>
          </a:p>
          <a:p xmlns:a="http://schemas.openxmlformats.org/drawingml/2006/main">
            <a:pPr algn="ctr">
              <a:def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直播话术 SOP</a:t>
            </a:r>
          </a:p>
        </p:txBody>
      </p:sp>
      <p:sp>
        <p:nvSpPr>
          <p:cNvPr id="12" name="SOP步骤1">
            <a:extLst xmlns:a="http://schemas.openxmlformats.org/drawingml/2006/main">
              <a:ext uri="{FF2B5EF4-FFF2-40B4-BE49-F238E27FC236}">
                <a16:creationId xmlns:a16="http://schemas.microsoft.com/office/drawing/2014/main" id="{3687BAB3-7540-46DD-B1FF-ADDD5D5D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4668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14" name="步骤1标题">
            <a:extLst xmlns:a="http://schemas.openxmlformats.org/drawingml/2006/main">
              <a:ext uri="{FF2B5EF4-FFF2-40B4-BE49-F238E27FC236}">
                <a16:creationId xmlns:a16="http://schemas.microsoft.com/office/drawing/2014/main" id="{574B11CD-821C-4BE4-A32F-A892888C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1504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01  开场背书</a:t>
            </a:r>
          </a:p>
        </p:txBody>
      </p:sp>
      <p:sp>
        <p:nvSpPr>
          <p:cNvPr id="15" name="步骤1执行动作">
            <a:extLst xmlns:a="http://schemas.openxmlformats.org/drawingml/2006/main">
              <a:ext uri="{FF2B5EF4-FFF2-40B4-BE49-F238E27FC236}">
                <a16:creationId xmlns:a16="http://schemas.microsoft.com/office/drawing/2014/main" id="{69EC818C-5636-4A01-A859-E7821B8D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1762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品牌积累与老客反馈</a:t>
            </a:r>
          </a:p>
        </p:txBody>
      </p:sp>
      <p:sp>
        <p:nvSpPr>
          <p:cNvPr id="16" name="SOP步骤2">
            <a:extLst xmlns:a="http://schemas.openxmlformats.org/drawingml/2006/main">
              <a:ext uri="{FF2B5EF4-FFF2-40B4-BE49-F238E27FC236}">
                <a16:creationId xmlns:a16="http://schemas.microsoft.com/office/drawing/2014/main" id="{DB9DCE2E-FF50-47E3-BB67-C31C9A7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09550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18" name="步骤2标题">
            <a:extLst xmlns:a="http://schemas.openxmlformats.org/drawingml/2006/main">
              <a:ext uri="{FF2B5EF4-FFF2-40B4-BE49-F238E27FC236}">
                <a16:creationId xmlns:a16="http://schemas.microsoft.com/office/drawing/2014/main" id="{C76EC48D-8A08-42D2-A107-345053F8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02  痛点共鸣</a:t>
            </a:r>
          </a:p>
        </p:txBody>
      </p:sp>
      <p:sp>
        <p:nvSpPr>
          <p:cNvPr id="19" name="步骤2执行动作">
            <a:extLst xmlns:a="http://schemas.openxmlformats.org/drawingml/2006/main">
              <a:ext uri="{FF2B5EF4-FFF2-40B4-BE49-F238E27FC236}">
                <a16:creationId xmlns:a16="http://schemas.microsoft.com/office/drawing/2014/main" id="{1C973DE8-FDDF-4FB0-8331-07F6D16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3907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聚焦皱纹、松弛与暗沉诉求</a:t>
            </a:r>
          </a:p>
        </p:txBody>
      </p:sp>
      <p:sp>
        <p:nvSpPr>
          <p:cNvPr id="20" name="SOP步骤3">
            <a:extLst xmlns:a="http://schemas.openxmlformats.org/drawingml/2006/main">
              <a:ext uri="{FF2B5EF4-FFF2-40B4-BE49-F238E27FC236}">
                <a16:creationId xmlns:a16="http://schemas.microsoft.com/office/drawing/2014/main" id="{99BEB863-1D77-43D9-A08F-44994FA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7241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22" name="步骤3标题">
            <a:extLst xmlns:a="http://schemas.openxmlformats.org/drawingml/2006/main">
              <a:ext uri="{FF2B5EF4-FFF2-40B4-BE49-F238E27FC236}">
                <a16:creationId xmlns:a16="http://schemas.microsoft.com/office/drawing/2014/main" id="{12B1B3E6-DC51-4CBC-A38C-074F37EF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762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03  升级说明</a:t>
            </a:r>
          </a:p>
        </p:txBody>
      </p:sp>
      <p:sp>
        <p:nvSpPr>
          <p:cNvPr id="23" name="步骤3执行动作">
            <a:extLst xmlns:a="http://schemas.openxmlformats.org/drawingml/2006/main">
              <a:ext uri="{FF2B5EF4-FFF2-40B4-BE49-F238E27FC236}">
                <a16:creationId xmlns:a16="http://schemas.microsoft.com/office/drawing/2014/main" id="{55AB6E15-7A3A-4D80-91DA-32871A3A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30194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对比1.0与2.0的核心变化</a:t>
            </a:r>
          </a:p>
        </p:txBody>
      </p:sp>
      <p:sp>
        <p:nvSpPr>
          <p:cNvPr id="24" name="SOP步骤4">
            <a:extLst xmlns:a="http://schemas.openxmlformats.org/drawingml/2006/main">
              <a:ext uri="{FF2B5EF4-FFF2-40B4-BE49-F238E27FC236}">
                <a16:creationId xmlns:a16="http://schemas.microsoft.com/office/drawing/2014/main" id="{470030BB-6F3D-46CA-AA1B-54A0EEB8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35280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26" name="步骤4标题">
            <a:extLst xmlns:a="http://schemas.openxmlformats.org/drawingml/2006/main">
              <a:ext uri="{FF2B5EF4-FFF2-40B4-BE49-F238E27FC236}">
                <a16:creationId xmlns:a16="http://schemas.microsoft.com/office/drawing/2014/main" id="{A6ECDB4A-44B8-4EEE-9724-4C00526F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3390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04  卖点转译</a:t>
            </a:r>
          </a:p>
        </p:txBody>
      </p:sp>
      <p:sp>
        <p:nvSpPr>
          <p:cNvPr id="27" name="步骤4执行动作">
            <a:extLst xmlns:a="http://schemas.openxmlformats.org/drawingml/2006/main">
              <a:ext uri="{FF2B5EF4-FFF2-40B4-BE49-F238E27FC236}">
                <a16:creationId xmlns:a16="http://schemas.microsoft.com/office/drawing/2014/main" id="{72D9F961-076C-453C-8F86-3796745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3648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将成分与技术对应到用户利益</a:t>
            </a:r>
          </a:p>
        </p:txBody>
      </p:sp>
      <p:sp>
        <p:nvSpPr>
          <p:cNvPr id="28" name="SOP步骤5">
            <a:extLst xmlns:a="http://schemas.openxmlformats.org/drawingml/2006/main">
              <a:ext uri="{FF2B5EF4-FFF2-40B4-BE49-F238E27FC236}">
                <a16:creationId xmlns:a16="http://schemas.microsoft.com/office/drawing/2014/main" id="{9A727D77-8FCF-4832-9158-24BB3C09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9814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30" name="步骤5标题">
            <a:extLst xmlns:a="http://schemas.openxmlformats.org/drawingml/2006/main">
              <a:ext uri="{FF2B5EF4-FFF2-40B4-BE49-F238E27FC236}">
                <a16:creationId xmlns:a16="http://schemas.microsoft.com/office/drawing/2014/main" id="{83BA082A-7BBF-4F7F-BDDF-AA6437E1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4019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05  产品展示</a:t>
            </a:r>
          </a:p>
        </p:txBody>
      </p:sp>
      <p:sp>
        <p:nvSpPr>
          <p:cNvPr id="31" name="步骤5执行动作">
            <a:extLst xmlns:a="http://schemas.openxmlformats.org/drawingml/2006/main">
              <a:ext uri="{FF2B5EF4-FFF2-40B4-BE49-F238E27FC236}">
                <a16:creationId xmlns:a16="http://schemas.microsoft.com/office/drawing/2014/main" id="{66647BD1-6C66-439D-90DB-A7B40E15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4276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演示步骤、肤感与使用方法</a:t>
            </a:r>
          </a:p>
        </p:txBody>
      </p:sp>
      <p:sp>
        <p:nvSpPr>
          <p:cNvPr id="32" name="SOP步骤6">
            <a:extLst xmlns:a="http://schemas.openxmlformats.org/drawingml/2006/main">
              <a:ext uri="{FF2B5EF4-FFF2-40B4-BE49-F238E27FC236}">
                <a16:creationId xmlns:a16="http://schemas.microsoft.com/office/drawing/2014/main" id="{76BD85D4-29C5-4B30-A756-5F62B2E7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61010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34" name="步骤6标题">
            <a:extLst xmlns:a="http://schemas.openxmlformats.org/drawingml/2006/main">
              <a:ext uri="{FF2B5EF4-FFF2-40B4-BE49-F238E27FC236}">
                <a16:creationId xmlns:a16="http://schemas.microsoft.com/office/drawing/2014/main" id="{68E36E8C-FA40-4390-AC8A-EDA488E1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4648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06  疑虑回应</a:t>
            </a:r>
          </a:p>
        </p:txBody>
      </p:sp>
      <p:sp>
        <p:nvSpPr>
          <p:cNvPr id="35" name="步骤6执行动作">
            <a:extLst xmlns:a="http://schemas.openxmlformats.org/drawingml/2006/main">
              <a:ext uri="{FF2B5EF4-FFF2-40B4-BE49-F238E27FC236}">
                <a16:creationId xmlns:a16="http://schemas.microsoft.com/office/drawing/2014/main" id="{49841382-588F-47C0-B5C1-6817C55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4905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用可核验资料解释用户问题</a:t>
            </a:r>
          </a:p>
        </p:txBody>
      </p:sp>
      <p:sp>
        <p:nvSpPr>
          <p:cNvPr id="36" name="SOP步骤7">
            <a:extLst xmlns:a="http://schemas.openxmlformats.org/drawingml/2006/main">
              <a:ext uri="{FF2B5EF4-FFF2-40B4-BE49-F238E27FC236}">
                <a16:creationId xmlns:a16="http://schemas.microsoft.com/office/drawing/2014/main" id="{8A1D550C-9CDF-498A-9E3D-FC35DA76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387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38" name="步骤7标题">
            <a:extLst xmlns:a="http://schemas.openxmlformats.org/drawingml/2006/main">
              <a:ext uri="{FF2B5EF4-FFF2-40B4-BE49-F238E27FC236}">
                <a16:creationId xmlns:a16="http://schemas.microsoft.com/office/drawing/2014/main" id="{BFCD8C4F-61A0-4025-892F-DDEB1AE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27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07  价值塑造</a:t>
            </a:r>
          </a:p>
        </p:txBody>
      </p:sp>
      <p:sp>
        <p:nvSpPr>
          <p:cNvPr id="39" name="步骤7执行动作">
            <a:extLst xmlns:a="http://schemas.openxmlformats.org/drawingml/2006/main">
              <a:ext uri="{FF2B5EF4-FFF2-40B4-BE49-F238E27FC236}">
                <a16:creationId xmlns:a16="http://schemas.microsoft.com/office/drawing/2014/main" id="{0FA46AB3-4AC9-4B99-9D0A-68EA9430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534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连接护理需求与使用感受</a:t>
            </a:r>
          </a:p>
        </p:txBody>
      </p:sp>
      <p:sp>
        <p:nvSpPr>
          <p:cNvPr id="40" name="SOP步骤8">
            <a:extLst xmlns:a="http://schemas.openxmlformats.org/drawingml/2006/main">
              <a:ext uri="{FF2B5EF4-FFF2-40B4-BE49-F238E27FC236}">
                <a16:creationId xmlns:a16="http://schemas.microsoft.com/office/drawing/2014/main" id="{02862457-D2AD-4183-AAD1-B06D2847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86740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42" name="步骤8标题">
            <a:extLst xmlns:a="http://schemas.openxmlformats.org/drawingml/2006/main">
              <a:ext uri="{FF2B5EF4-FFF2-40B4-BE49-F238E27FC236}">
                <a16:creationId xmlns:a16="http://schemas.microsoft.com/office/drawing/2014/main" id="{B3B33068-56CF-4E3B-B13F-04AF46D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905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08  报价加码</a:t>
            </a:r>
          </a:p>
        </p:txBody>
      </p:sp>
      <p:sp>
        <p:nvSpPr>
          <p:cNvPr id="43" name="步骤8执行动作">
            <a:extLst xmlns:a="http://schemas.openxmlformats.org/drawingml/2006/main">
              <a:ext uri="{FF2B5EF4-FFF2-40B4-BE49-F238E27FC236}">
                <a16:creationId xmlns:a16="http://schemas.microsoft.com/office/drawing/2014/main" id="{A94AAF66-EB14-4CC2-842C-B31365D6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61626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单单1380元、双单2760元及赠品</a:t>
            </a:r>
          </a:p>
        </p:txBody>
      </p:sp>
      <p:sp>
        <p:nvSpPr>
          <p:cNvPr id="44" name="SOP步骤9">
            <a:extLst xmlns:a="http://schemas.openxmlformats.org/drawingml/2006/main">
              <a:ext uri="{FF2B5EF4-FFF2-40B4-BE49-F238E27FC236}">
                <a16:creationId xmlns:a16="http://schemas.microsoft.com/office/drawing/2014/main" id="{C4050EB5-6E39-45ED-AA6E-A3F0FD17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4960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46" name="步骤9标题">
            <a:extLst xmlns:a="http://schemas.openxmlformats.org/drawingml/2006/main">
              <a:ext uri="{FF2B5EF4-FFF2-40B4-BE49-F238E27FC236}">
                <a16:creationId xmlns:a16="http://schemas.microsoft.com/office/drawing/2014/main" id="{C7E0E7E4-AD3E-4A14-A015-18DFC4F2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6534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09  链接指引</a:t>
            </a:r>
          </a:p>
        </p:txBody>
      </p:sp>
      <p:sp>
        <p:nvSpPr>
          <p:cNvPr id="47" name="步骤9执行动作">
            <a:extLst xmlns:a="http://schemas.openxmlformats.org/drawingml/2006/main">
              <a:ext uri="{FF2B5EF4-FFF2-40B4-BE49-F238E27FC236}">
                <a16:creationId xmlns:a16="http://schemas.microsoft.com/office/drawing/2014/main" id="{03E32CCE-1A04-4F6B-8E3E-D8876D69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6791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重复定位1号链接，给出下单动作</a:t>
            </a:r>
          </a:p>
        </p:txBody>
      </p:sp>
      <p:sp>
        <p:nvSpPr>
          <p:cNvPr id="48" name="SOP步骤10">
            <a:extLst xmlns:a="http://schemas.openxmlformats.org/drawingml/2006/main">
              <a:ext uri="{FF2B5EF4-FFF2-40B4-BE49-F238E27FC236}">
                <a16:creationId xmlns:a16="http://schemas.microsoft.com/office/drawing/2014/main" id="{40864093-4D41-4E25-B471-AED6AAFA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2470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50" name="步骤10标题">
            <a:extLst xmlns:a="http://schemas.openxmlformats.org/drawingml/2006/main">
              <a:ext uri="{FF2B5EF4-FFF2-40B4-BE49-F238E27FC236}">
                <a16:creationId xmlns:a16="http://schemas.microsoft.com/office/drawing/2014/main" id="{526D1F22-BD76-44FD-8788-A2233124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162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10  人群分层</a:t>
            </a:r>
          </a:p>
        </p:txBody>
      </p:sp>
      <p:sp>
        <p:nvSpPr>
          <p:cNvPr id="51" name="步骤10执行动作">
            <a:extLst xmlns:a="http://schemas.openxmlformats.org/drawingml/2006/main">
              <a:ext uri="{FF2B5EF4-FFF2-40B4-BE49-F238E27FC236}">
                <a16:creationId xmlns:a16="http://schemas.microsoft.com/office/drawing/2014/main" id="{F0FCA5FD-9086-49B9-B869-9F293CDF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4199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新客一单试用，老客两单囤购</a:t>
            </a:r>
          </a:p>
        </p:txBody>
      </p:sp>
      <p:sp>
        <p:nvSpPr>
          <p:cNvPr id="52" name="SOP步骤11">
            <a:extLst xmlns:a="http://schemas.openxmlformats.org/drawingml/2006/main">
              <a:ext uri="{FF2B5EF4-FFF2-40B4-BE49-F238E27FC236}">
                <a16:creationId xmlns:a16="http://schemas.microsoft.com/office/drawing/2014/main" id="{57C93B6D-86D6-410A-8C86-4FF59D0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75335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54" name="步骤11标题">
            <a:extLst xmlns:a="http://schemas.openxmlformats.org/drawingml/2006/main">
              <a:ext uri="{FF2B5EF4-FFF2-40B4-BE49-F238E27FC236}">
                <a16:creationId xmlns:a16="http://schemas.microsoft.com/office/drawing/2014/main" id="{3B2B7586-16E5-46CC-A43C-FF6CA8ED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791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11  限时收口</a:t>
            </a:r>
          </a:p>
        </p:txBody>
      </p:sp>
      <p:sp>
        <p:nvSpPr>
          <p:cNvPr id="55" name="步骤11执行动作">
            <a:extLst xmlns:a="http://schemas.openxmlformats.org/drawingml/2006/main">
              <a:ext uri="{FF2B5EF4-FFF2-40B4-BE49-F238E27FC236}">
                <a16:creationId xmlns:a16="http://schemas.microsoft.com/office/drawing/2014/main" id="{60F67C11-A6D4-4147-BD82-F6E597A4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8048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倒数与名额提示，强化即时行动</a:t>
            </a:r>
          </a:p>
        </p:txBody>
      </p:sp>
      <p:sp>
        <p:nvSpPr>
          <p:cNvPr id="56" name="SOP步骤12">
            <a:extLst xmlns:a="http://schemas.openxmlformats.org/drawingml/2006/main">
              <a:ext uri="{FF2B5EF4-FFF2-40B4-BE49-F238E27FC236}">
                <a16:creationId xmlns:a16="http://schemas.microsoft.com/office/drawing/2014/main" id="{34630C78-E337-47C0-9A6E-E04FE8D3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82000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58" name="步骤12标题">
            <a:extLst xmlns:a="http://schemas.openxmlformats.org/drawingml/2006/main">
              <a:ext uri="{FF2B5EF4-FFF2-40B4-BE49-F238E27FC236}">
                <a16:creationId xmlns:a16="http://schemas.microsoft.com/office/drawing/2014/main" id="{21BAA4AF-CC11-41A2-9BE7-EF6C10DA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8420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12  售后承接</a:t>
            </a:r>
          </a:p>
        </p:txBody>
      </p:sp>
      <p:sp>
        <p:nvSpPr>
          <p:cNvPr id="59" name="步骤12执行动作">
            <a:extLst xmlns:a="http://schemas.openxmlformats.org/drawingml/2006/main">
              <a:ext uri="{FF2B5EF4-FFF2-40B4-BE49-F238E27FC236}">
                <a16:creationId xmlns:a16="http://schemas.microsoft.com/office/drawing/2014/main" id="{E4F997F3-2066-47C3-8E17-55E3A87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8677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95959"/>
                </a:solidFill>
                <a:latin typeface="PingFang SC"/>
                <a:ea typeface="PingFang SC"/>
                <a:cs typeface="PingFang SC"/>
              </a:rPr>
              <a:t>七天无理由、保价与一对一指导</a:t>
            </a:r>
          </a:p>
        </p:txBody>
      </p:sp>
      <p:sp>
        <p:nvSpPr>
          <p:cNvPr id="60" name="资料边界">
            <a:extLst xmlns:a="http://schemas.openxmlformats.org/drawingml/2006/main">
              <a:ext uri="{FF2B5EF4-FFF2-40B4-BE49-F238E27FC236}">
                <a16:creationId xmlns:a16="http://schemas.microsoft.com/office/drawing/2014/main" id="{6362C4DB-4055-45A5-A00F-D3F9986D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86875"/>
            <a:ext cx="1495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9999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999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99999"/>
                </a:solidFill>
                <a:latin typeface="PingFang SC"/>
                <a:ea typeface="PingFang SC"/>
                <a:cs typeface="PingFang SC"/>
              </a:rPr>
              <a:t>依据用户提供的直播片段整理，所列价格与权益为原话术表述。</a:t>
            </a:r>
          </a:p>
        </p:txBody>
      </p:sp>
    </p:spTree>
    <p:extLst>
      <p:ext uri="{BB962C8B-B14F-4D97-AF65-F5344CB8AC3E}">
        <p14:creationId xmlns:p14="http://schemas.microsoft.com/office/powerpoint/2010/main" val="1872908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2026-10-16T07:02:45.7790000Z</dcterms:created>
  <dcterms:modified xsi:type="dcterms:W3CDTF">2026-10-16T07:02:45.7790000Z</dcterms:modified>
</coreProperties>
</file>