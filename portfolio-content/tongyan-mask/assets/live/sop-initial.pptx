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af7875f577416f" /><Relationship Type="http://schemas.openxmlformats.org/officeDocument/2006/relationships/extended-properties" Target="/docProps/app.xml" Id="Rab661fc47a9043b8" /><Relationship Type="http://schemas.openxmlformats.org/officeDocument/2006/relationships/officeDocument" Target="/ppt/presentation.xml" Id="Rd4c43067146747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7ca2c0b80d452e"/>
  </p:sldMasterIdLst>
  <p:notesMasterIdLst>
    <p:notesMasterId xmlns:r="http://schemas.openxmlformats.org/officeDocument/2006/relationships" r:id="R54e1454fd9ef4ff3"/>
  </p:notesMasterIdLst>
  <p:sldIdLst>
    <p:sldId xmlns:r="http://schemas.openxmlformats.org/officeDocument/2006/relationships" id="256" r:id="R62bf1dfaf8c74862"/>
  </p:sldIdLst>
  <p:sldSz cx="17449800" cy="9810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572e640e6b4e37" /><Relationship Type="http://schemas.openxmlformats.org/officeDocument/2006/relationships/slideMaster" Target="/ppt/slideMasters/slideMaster1.xml" Id="R227ca2c0b80d452e" /><Relationship Type="http://schemas.openxmlformats.org/officeDocument/2006/relationships/notesMaster" Target="/ppt/notesMasters/notesMaster1.xml" Id="R54e1454fd9ef4ff3" /><Relationship Type="http://schemas.openxmlformats.org/officeDocument/2006/relationships/presProps" Target="/ppt/presProps.xml" Id="R84f5478cc64f49ff" /><Relationship Type="http://schemas.openxmlformats.org/officeDocument/2006/relationships/tableStyles" Target="/ppt/tableStyles.xml" Id="R72e076ebbf29479a" /><Relationship Type="http://schemas.openxmlformats.org/officeDocument/2006/relationships/slide" Target="/ppt/slides/slide1.xml" Id="R62bf1dfaf8c748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364035c5574d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7a138bfb1a49d5" /><Relationship Type="http://schemas.openxmlformats.org/officeDocument/2006/relationships/notesMaster" Target="/ppt/notesMasters/notesMaster1.xml" Id="Ra91ad6afbe9546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用户提供的童颜面膜直播转写截图（00:00至约11:20）及版式参考截图。此页为案例话术拆解与SOP整理，不宣称产品功效已核验，不宣称实际转化增长。第09、10项为建议补充，未在所供片段中完整展示。目标人群基于原话术提及的年龄与诉求推断。正文、节点与分支均为可编辑对象，图标截取自用户提供的版式参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663ff4374047b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fde5556632414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643c6d5c6445b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dffe6bbb9d4c8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d10a2fdd7244f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c90fd53fa84a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284330-E0D7-47D2-944E-4FB34C49C5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44980" y="3706283"/>
            <a:ext cx="13959840" cy="1417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E639036-1544-4575-B4EB-71691D84AD2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17470" y="5395913"/>
            <a:ext cx="12214860" cy="1090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0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E825371-C11F-4375-AA12-7A2B55239E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44980" y="4087813"/>
            <a:ext cx="13959840" cy="163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5670EE-10F6-4D84-97A1-1892282E2F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1551" y="763058"/>
            <a:ext cx="15486697" cy="119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7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827BAD8-6CC1-4F54-B0D3-A42E5E0626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81551" y="2725208"/>
            <a:ext cx="15486697" cy="6104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70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1pPr>
            <a:lvl2pPr marL="7630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2pPr>
            <a:lvl3pPr marL="11990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3pPr>
            <a:lvl4pPr marL="16351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4pPr>
            <a:lvl5pPr marL="20711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5pPr>
            <a:lvl6pPr marL="25071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6pPr>
            <a:lvl7pPr marL="29432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7pPr>
            <a:lvl8pPr marL="33792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8pPr>
            <a:lvl9pPr marL="38152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0290BE2-7D7B-46F1-8927-A53F2B300F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1551" y="763058"/>
            <a:ext cx="15486697" cy="119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7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CCE036-4564-4A84-9D44-2E92E1C55B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81551" y="2725208"/>
            <a:ext cx="7198042" cy="6104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70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1pPr>
            <a:lvl2pPr marL="7630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2pPr>
            <a:lvl3pPr marL="11990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3pPr>
            <a:lvl4pPr marL="16351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4pPr>
            <a:lvl5pPr marL="20711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5pPr>
            <a:lvl6pPr marL="25071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6pPr>
            <a:lvl7pPr marL="29432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7pPr>
            <a:lvl8pPr marL="33792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8pPr>
            <a:lvl9pPr marL="38152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0AAE480-6DCF-4043-8587-5BB0D4F49C6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270206" y="2725208"/>
            <a:ext cx="7198042" cy="6104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70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1pPr>
            <a:lvl2pPr marL="7630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2pPr>
            <a:lvl3pPr marL="11990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3pPr>
            <a:lvl4pPr marL="16351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4pPr>
            <a:lvl5pPr marL="20711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5pPr>
            <a:lvl6pPr marL="25071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6pPr>
            <a:lvl7pPr marL="29432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7pPr>
            <a:lvl8pPr marL="33792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8pPr>
            <a:lvl9pPr marL="38152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E07568-BF2A-451F-8DFC-AEAE6B7593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1551" y="763058"/>
            <a:ext cx="15486697" cy="119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7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8D55B57-9F7E-4023-82D0-3153640433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81551" y="2725208"/>
            <a:ext cx="7198042" cy="6104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70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1pPr>
            <a:lvl2pPr marL="7630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2pPr>
            <a:lvl3pPr marL="11990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3pPr>
            <a:lvl4pPr marL="16351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4pPr>
            <a:lvl5pPr marL="20711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5pPr>
            <a:lvl6pPr marL="25071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6pPr>
            <a:lvl7pPr marL="29432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7pPr>
            <a:lvl8pPr marL="33792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8pPr>
            <a:lvl9pPr marL="38152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958f8a79144f6b" /><Relationship Type="http://schemas.openxmlformats.org/officeDocument/2006/relationships/slideLayout" Target="/ppt/slideLayouts/slideLayout1.xml" Id="R01c4f91dcfc44406" /><Relationship Type="http://schemas.openxmlformats.org/officeDocument/2006/relationships/slideLayout" Target="/ppt/slideLayouts/slideLayout2.xml" Id="R15fb6f7ca8ac41ff" /><Relationship Type="http://schemas.openxmlformats.org/officeDocument/2006/relationships/slideLayout" Target="/ppt/slideLayouts/slideLayout3.xml" Id="R899b144f0d24483e" /><Relationship Type="http://schemas.openxmlformats.org/officeDocument/2006/relationships/slideLayout" Target="/ppt/slideLayouts/slideLayout4.xml" Id="R42cfe8ba127c440a" /><Relationship Type="http://schemas.openxmlformats.org/officeDocument/2006/relationships/slideLayout" Target="/ppt/slideLayouts/slideLayout5.xml" Id="R79e8244c76f24679" /><Relationship Type="http://schemas.openxmlformats.org/officeDocument/2006/relationships/slideLayout" Target="/ppt/slideLayouts/slideLayout6.xml" Id="R3712bde2cd7648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c4f91dcfc44406"/>
    <p:sldLayoutId xmlns:r="http://schemas.openxmlformats.org/officeDocument/2006/relationships" id="2147483650" r:id="R15fb6f7ca8ac41ff"/>
    <p:sldLayoutId xmlns:r="http://schemas.openxmlformats.org/officeDocument/2006/relationships" id="2147483651" r:id="R899b144f0d24483e"/>
    <p:sldLayoutId xmlns:r="http://schemas.openxmlformats.org/officeDocument/2006/relationships" id="2147483652" r:id="R42cfe8ba127c440a"/>
    <p:sldLayoutId xmlns:r="http://schemas.openxmlformats.org/officeDocument/2006/relationships" id="2147483653" r:id="R79e8244c76f24679"/>
    <p:sldLayoutId xmlns:r="http://schemas.openxmlformats.org/officeDocument/2006/relationships" id="2147483654" r:id="R3712bde2cd7648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be25da869b4b44" /><Relationship Type="http://schemas.openxmlformats.org/officeDocument/2006/relationships/image" Target="/ppt/media/image.png" Id="R42d60f0091fb42d5" /><Relationship Type="http://schemas.openxmlformats.org/officeDocument/2006/relationships/image" Target="/ppt/media/image2.png" Id="R901eee4e4cbd4c1a" /><Relationship Type="http://schemas.openxmlformats.org/officeDocument/2006/relationships/image" Target="/ppt/media/image3.png" Id="R4d69616fd2c24e44" /><Relationship Type="http://schemas.openxmlformats.org/officeDocument/2006/relationships/notesSlide" Target="/ppt/notesSlides/notesSlide1.xml" Id="R91044acd2f3647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步骤10分支">
            <a:extLst xmlns:a="http://schemas.openxmlformats.org/drawingml/2006/main">
              <a:ext uri="{FF2B5EF4-FFF2-40B4-BE49-F238E27FC236}">
                <a16:creationId xmlns:a16="http://schemas.microsoft.com/office/drawing/2014/main" id="{C4C20DE9-1024-4C4F-88C9-0124C402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219700"/>
            <a:ext cx="1238250" cy="3181350"/>
          </a:xfrm>
          <a:custGeom xmlns:a="http://schemas.openxmlformats.org/drawingml/2006/main">
            <a:pathLst>
              <a:path w="1238250" h="3181350">
                <a:moveTo>
                  <a:pt x="0" y="0"/>
                </a:moveTo>
                <a:cubicBezTo>
                  <a:pt x="428625" y="0"/>
                  <a:pt x="619125" y="3181350"/>
                  <a:pt x="1028700" y="3181350"/>
                </a:cubicBezTo>
                <a:lnTo>
                  <a:pt x="1238250" y="318135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29292"/>
            </a:solidFill>
            <a:prstDash val="solid"/>
          </a:ln>
        </p:spPr>
      </p:sp>
      <p:sp>
        <p:nvSpPr>
          <p:cNvPr id="45" name="步骤9分支">
            <a:extLst xmlns:a="http://schemas.openxmlformats.org/drawingml/2006/main">
              <a:ext uri="{FF2B5EF4-FFF2-40B4-BE49-F238E27FC236}">
                <a16:creationId xmlns:a16="http://schemas.microsoft.com/office/drawing/2014/main" id="{BD4328EA-1CA7-4926-8355-D5EBFCF5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219700"/>
            <a:ext cx="1238250" cy="2457450"/>
          </a:xfrm>
          <a:custGeom xmlns:a="http://schemas.openxmlformats.org/drawingml/2006/main">
            <a:pathLst>
              <a:path w="1238250" h="2457450">
                <a:moveTo>
                  <a:pt x="0" y="0"/>
                </a:moveTo>
                <a:cubicBezTo>
                  <a:pt x="428625" y="0"/>
                  <a:pt x="619125" y="2457450"/>
                  <a:pt x="1028700" y="2457450"/>
                </a:cubicBezTo>
                <a:lnTo>
                  <a:pt x="1238250" y="245745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29292"/>
            </a:solidFill>
            <a:prstDash val="solid"/>
          </a:ln>
        </p:spPr>
      </p:sp>
      <p:sp>
        <p:nvSpPr>
          <p:cNvPr id="41" name="步骤8分支">
            <a:extLst xmlns:a="http://schemas.openxmlformats.org/drawingml/2006/main">
              <a:ext uri="{FF2B5EF4-FFF2-40B4-BE49-F238E27FC236}">
                <a16:creationId xmlns:a16="http://schemas.microsoft.com/office/drawing/2014/main" id="{9F30E736-31F7-49EC-B129-2327EB86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219700"/>
            <a:ext cx="1238250" cy="1733550"/>
          </a:xfrm>
          <a:custGeom xmlns:a="http://schemas.openxmlformats.org/drawingml/2006/main">
            <a:pathLst>
              <a:path w="1238250" h="1733550">
                <a:moveTo>
                  <a:pt x="0" y="0"/>
                </a:moveTo>
                <a:cubicBezTo>
                  <a:pt x="428625" y="0"/>
                  <a:pt x="619125" y="1733550"/>
                  <a:pt x="1028700" y="1733550"/>
                </a:cubicBezTo>
                <a:lnTo>
                  <a:pt x="1238250" y="173355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29292"/>
            </a:solidFill>
            <a:prstDash val="solid"/>
          </a:ln>
        </p:spPr>
      </p:sp>
      <p:sp>
        <p:nvSpPr>
          <p:cNvPr id="37" name="步骤7分支">
            <a:extLst xmlns:a="http://schemas.openxmlformats.org/drawingml/2006/main">
              <a:ext uri="{FF2B5EF4-FFF2-40B4-BE49-F238E27FC236}">
                <a16:creationId xmlns:a16="http://schemas.microsoft.com/office/drawing/2014/main" id="{06D2BE65-A8AF-4920-BFBD-2A10C628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219700"/>
            <a:ext cx="1238250" cy="1009650"/>
          </a:xfrm>
          <a:custGeom xmlns:a="http://schemas.openxmlformats.org/drawingml/2006/main">
            <a:pathLst>
              <a:path w="1238250" h="1009650">
                <a:moveTo>
                  <a:pt x="0" y="0"/>
                </a:moveTo>
                <a:cubicBezTo>
                  <a:pt x="428625" y="0"/>
                  <a:pt x="619125" y="1009650"/>
                  <a:pt x="1028700" y="1009650"/>
                </a:cubicBezTo>
                <a:lnTo>
                  <a:pt x="1238250" y="100965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29292"/>
            </a:solidFill>
            <a:prstDash val="solid"/>
          </a:ln>
        </p:spPr>
      </p:sp>
      <p:sp>
        <p:nvSpPr>
          <p:cNvPr id="33" name="步骤6分支">
            <a:extLst xmlns:a="http://schemas.openxmlformats.org/drawingml/2006/main">
              <a:ext uri="{FF2B5EF4-FFF2-40B4-BE49-F238E27FC236}">
                <a16:creationId xmlns:a16="http://schemas.microsoft.com/office/drawing/2014/main" id="{2CAEA117-4793-4DA5-98F5-6B630695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219700"/>
            <a:ext cx="1238250" cy="285750"/>
          </a:xfrm>
          <a:custGeom xmlns:a="http://schemas.openxmlformats.org/drawingml/2006/main">
            <a:pathLst>
              <a:path w="1238250" h="285750">
                <a:moveTo>
                  <a:pt x="0" y="0"/>
                </a:moveTo>
                <a:cubicBezTo>
                  <a:pt x="428625" y="0"/>
                  <a:pt x="619125" y="285750"/>
                  <a:pt x="1028700" y="285750"/>
                </a:cubicBezTo>
                <a:lnTo>
                  <a:pt x="123825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29292"/>
            </a:solidFill>
            <a:prstDash val="solid"/>
          </a:ln>
        </p:spPr>
      </p:sp>
      <p:sp>
        <p:nvSpPr>
          <p:cNvPr id="29" name="步骤5分支">
            <a:extLst xmlns:a="http://schemas.openxmlformats.org/drawingml/2006/main">
              <a:ext uri="{FF2B5EF4-FFF2-40B4-BE49-F238E27FC236}">
                <a16:creationId xmlns:a16="http://schemas.microsoft.com/office/drawing/2014/main" id="{AB8D7662-27AF-4238-9533-9946E552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781550"/>
            <a:ext cx="1238250" cy="438150"/>
          </a:xfrm>
          <a:custGeom xmlns:a="http://schemas.openxmlformats.org/drawingml/2006/main">
            <a:pathLst>
              <a:path w="1238250" h="438150">
                <a:moveTo>
                  <a:pt x="0" y="438150"/>
                </a:moveTo>
                <a:cubicBezTo>
                  <a:pt x="428625" y="438150"/>
                  <a:pt x="619125" y="0"/>
                  <a:pt x="1028700" y="0"/>
                </a:cubicBezTo>
                <a:lnTo>
                  <a:pt x="1238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29292"/>
            </a:solidFill>
            <a:prstDash val="solid"/>
          </a:ln>
        </p:spPr>
      </p:sp>
      <p:sp>
        <p:nvSpPr>
          <p:cNvPr id="25" name="步骤4分支">
            <a:extLst xmlns:a="http://schemas.openxmlformats.org/drawingml/2006/main">
              <a:ext uri="{FF2B5EF4-FFF2-40B4-BE49-F238E27FC236}">
                <a16:creationId xmlns:a16="http://schemas.microsoft.com/office/drawing/2014/main" id="{DCA4E0F3-6B24-444B-8DBD-9BA9763A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057650"/>
            <a:ext cx="1238250" cy="1162050"/>
          </a:xfrm>
          <a:custGeom xmlns:a="http://schemas.openxmlformats.org/drawingml/2006/main">
            <a:pathLst>
              <a:path w="1238250" h="1162050">
                <a:moveTo>
                  <a:pt x="0" y="1162050"/>
                </a:moveTo>
                <a:cubicBezTo>
                  <a:pt x="428625" y="1162050"/>
                  <a:pt x="619125" y="0"/>
                  <a:pt x="1028700" y="0"/>
                </a:cubicBezTo>
                <a:lnTo>
                  <a:pt x="1238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29292"/>
            </a:solidFill>
            <a:prstDash val="solid"/>
          </a:ln>
        </p:spPr>
      </p:sp>
      <p:sp>
        <p:nvSpPr>
          <p:cNvPr id="21" name="步骤3分支">
            <a:extLst xmlns:a="http://schemas.openxmlformats.org/drawingml/2006/main">
              <a:ext uri="{FF2B5EF4-FFF2-40B4-BE49-F238E27FC236}">
                <a16:creationId xmlns:a16="http://schemas.microsoft.com/office/drawing/2014/main" id="{63A09224-850C-4703-BC9A-3F7A937F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333750"/>
            <a:ext cx="1238250" cy="1885950"/>
          </a:xfrm>
          <a:custGeom xmlns:a="http://schemas.openxmlformats.org/drawingml/2006/main">
            <a:pathLst>
              <a:path w="1238250" h="1885950">
                <a:moveTo>
                  <a:pt x="0" y="1885950"/>
                </a:moveTo>
                <a:cubicBezTo>
                  <a:pt x="428625" y="1885950"/>
                  <a:pt x="619125" y="0"/>
                  <a:pt x="1028700" y="0"/>
                </a:cubicBezTo>
                <a:lnTo>
                  <a:pt x="1238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29292"/>
            </a:solidFill>
            <a:prstDash val="solid"/>
          </a:ln>
        </p:spPr>
      </p:sp>
      <p:sp>
        <p:nvSpPr>
          <p:cNvPr id="17" name="步骤2分支">
            <a:extLst xmlns:a="http://schemas.openxmlformats.org/drawingml/2006/main">
              <a:ext uri="{FF2B5EF4-FFF2-40B4-BE49-F238E27FC236}">
                <a16:creationId xmlns:a16="http://schemas.microsoft.com/office/drawing/2014/main" id="{4E5DE6D9-48A2-49D7-9A51-B5FB690E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609850"/>
            <a:ext cx="1238250" cy="2609850"/>
          </a:xfrm>
          <a:custGeom xmlns:a="http://schemas.openxmlformats.org/drawingml/2006/main">
            <a:pathLst>
              <a:path w="1238250" h="2609850">
                <a:moveTo>
                  <a:pt x="0" y="2609850"/>
                </a:moveTo>
                <a:cubicBezTo>
                  <a:pt x="428625" y="2609850"/>
                  <a:pt x="619125" y="0"/>
                  <a:pt x="1028700" y="0"/>
                </a:cubicBezTo>
                <a:lnTo>
                  <a:pt x="1238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29292"/>
            </a:solidFill>
            <a:prstDash val="solid"/>
          </a:ln>
        </p:spPr>
      </p:sp>
      <p:sp>
        <p:nvSpPr>
          <p:cNvPr id="13" name="步骤1分支">
            <a:extLst xmlns:a="http://schemas.openxmlformats.org/drawingml/2006/main">
              <a:ext uri="{FF2B5EF4-FFF2-40B4-BE49-F238E27FC236}">
                <a16:creationId xmlns:a16="http://schemas.microsoft.com/office/drawing/2014/main" id="{6F9E80AC-760A-445A-BEB0-F5AB6BDE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1885950"/>
            <a:ext cx="1238250" cy="3333750"/>
          </a:xfrm>
          <a:custGeom xmlns:a="http://schemas.openxmlformats.org/drawingml/2006/main">
            <a:pathLst>
              <a:path w="1238250" h="3333750">
                <a:moveTo>
                  <a:pt x="0" y="3333750"/>
                </a:moveTo>
                <a:cubicBezTo>
                  <a:pt x="428625" y="3333750"/>
                  <a:pt x="619125" y="0"/>
                  <a:pt x="1028700" y="0"/>
                </a:cubicBezTo>
                <a:lnTo>
                  <a:pt x="1238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29292"/>
            </a:solidFill>
            <a:prstDash val="solid"/>
          </a:ln>
        </p:spPr>
      </p:sp>
      <p:sp>
        <p:nvSpPr>
          <p:cNvPr id="5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7F90BA45-EC4C-4922-8DAC-BB4D66B0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"/>
            <a:ext cx="1381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童颜面膜2.0 直播话术 SOP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D361B-5A2A-4CA4-857D-BE57FA97B5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60f0091fb42d5"/>
          <a:stretch xmlns:a="http://schemas.openxmlformats.org/drawingml/2006/main"/>
        </p:blipFill>
        <p:spPr>
          <a:xfrm xmlns:a="http://schemas.openxmlformats.org/drawingml/2006/main">
            <a:off x="1028700" y="1782128"/>
            <a:ext cx="647700" cy="712470"/>
          </a:xfrm>
          <a:prstGeom xmlns:a="http://schemas.openxmlformats.org/drawingml/2006/main" prst="rect">
            <a:avLst/>
          </a:prstGeom>
        </p:spPr>
      </p:pic>
      <p:sp>
        <p:nvSpPr>
          <p:cNvPr id="3" name="项目背景">
            <a:extLst xmlns:a="http://schemas.openxmlformats.org/drawingml/2006/main">
              <a:ext uri="{FF2B5EF4-FFF2-40B4-BE49-F238E27FC236}">
                <a16:creationId xmlns:a16="http://schemas.microsoft.com/office/drawing/2014/main" id="{7742FC96-CF35-4E37-AEF3-C4EB079D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4785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项目背景</a:t>
            </a:r>
          </a:p>
        </p:txBody>
      </p:sp>
      <p:sp>
        <p:nvSpPr>
          <p:cNvPr id="4" name="项目背景说明">
            <a:extLst xmlns:a="http://schemas.openxmlformats.org/drawingml/2006/main">
              <a:ext uri="{FF2B5EF4-FFF2-40B4-BE49-F238E27FC236}">
                <a16:creationId xmlns:a16="http://schemas.microsoft.com/office/drawing/2014/main" id="{85894562-D74E-449A-8A5A-F45AB028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38400"/>
            <a:ext cx="48101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23000"/>
              </a:lnSpc>
              <a:buNone/>
              <a:def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rPr>
              <a:t>围绕童颜面膜2.0升级沟通，面向关注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rPr>
              <a:t>皱纹、松弛与暗沉等问题的熟龄消费者，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rPr>
              <a:t>梳理高客单价产品的直播讲解路径，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rPr>
              <a:t>回应用户对效果依据与价格价值的疑问。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8E5E5-3D99-415A-B131-912BC0302F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1eee4e4cbd4c1a"/>
          <a:stretch xmlns:a="http://schemas.openxmlformats.org/drawingml/2006/main"/>
        </p:blipFill>
        <p:spPr>
          <a:xfrm xmlns:a="http://schemas.openxmlformats.org/drawingml/2006/main">
            <a:off x="1028700" y="4094124"/>
            <a:ext cx="685800" cy="593802"/>
          </a:xfrm>
          <a:prstGeom xmlns:a="http://schemas.openxmlformats.org/drawingml/2006/main" prst="rect">
            <a:avLst/>
          </a:prstGeom>
        </p:spPr>
      </p:pic>
      <p:sp>
        <p:nvSpPr>
          <p:cNvPr id="6" name="沟通目标">
            <a:extLst xmlns:a="http://schemas.openxmlformats.org/drawingml/2006/main">
              <a:ext uri="{FF2B5EF4-FFF2-40B4-BE49-F238E27FC236}">
                <a16:creationId xmlns:a16="http://schemas.microsoft.com/office/drawing/2014/main" id="{1196DDC1-EAAC-420E-AC29-9048F49B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5290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沟通目标</a:t>
            </a:r>
          </a:p>
        </p:txBody>
      </p:sp>
      <p:sp>
        <p:nvSpPr>
          <p:cNvPr id="7" name="沟通目标说明">
            <a:extLst xmlns:a="http://schemas.openxmlformats.org/drawingml/2006/main">
              <a:ext uri="{FF2B5EF4-FFF2-40B4-BE49-F238E27FC236}">
                <a16:creationId xmlns:a16="http://schemas.microsoft.com/office/drawing/2014/main" id="{9B4DDC0B-544B-4815-887A-84580DE5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43450"/>
            <a:ext cx="48101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23000"/>
              </a:lnSpc>
              <a:buNone/>
              <a:def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rPr>
              <a:t>建立产品信任，解释新品升级价值，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rPr>
              <a:t>帮助用户理解产品与自身需求的关联。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rPr>
              <a:t>通过主副播配合及清晰的权益说明，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rPr>
              <a:t>支持用户完成从了解产品到购买的决策。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C298F-8446-4E52-8F80-C105B7668E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9616fd2c24e44"/>
          <a:stretch xmlns:a="http://schemas.openxmlformats.org/drawingml/2006/main"/>
        </p:blipFill>
        <p:spPr>
          <a:xfrm xmlns:a="http://schemas.openxmlformats.org/drawingml/2006/main">
            <a:off x="1054100" y="6391275"/>
            <a:ext cx="635000" cy="609600"/>
          </a:xfrm>
          <a:prstGeom xmlns:a="http://schemas.openxmlformats.org/drawingml/2006/main" prst="rect">
            <a:avLst/>
          </a:prstGeom>
        </p:spPr>
      </p:pic>
      <p:sp>
        <p:nvSpPr>
          <p:cNvPr id="9" name="策划思路">
            <a:extLst xmlns:a="http://schemas.openxmlformats.org/drawingml/2006/main">
              <a:ext uri="{FF2B5EF4-FFF2-40B4-BE49-F238E27FC236}">
                <a16:creationId xmlns:a16="http://schemas.microsoft.com/office/drawing/2014/main" id="{5BD0EA86-BA53-4C23-B7F8-4D51AC83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45795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策划思路</a:t>
            </a:r>
          </a:p>
        </p:txBody>
      </p:sp>
      <p:sp>
        <p:nvSpPr>
          <p:cNvPr id="10" name="策划思路说明">
            <a:extLst xmlns:a="http://schemas.openxmlformats.org/drawingml/2006/main">
              <a:ext uri="{FF2B5EF4-FFF2-40B4-BE49-F238E27FC236}">
                <a16:creationId xmlns:a16="http://schemas.microsoft.com/office/drawing/2014/main" id="{47A40B32-A6B9-40BB-A641-823D8FAC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048500"/>
            <a:ext cx="48101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23000"/>
              </a:lnSpc>
              <a:buNone/>
              <a:def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rPr>
              <a:t>按用户决策顺序组织内容，先建立信任，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rPr>
              <a:t>再唤起需求并讲清产品差异。用演示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rPr>
              <a:t>与问答辅助理解，在价值认同后释放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rPr>
              <a:t>价格和权益。主讲负责价值解释，副播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rPr>
              <a:t>承接疑问、复述重点并推进讲解节奏。</a:t>
            </a:r>
          </a:p>
        </p:txBody>
      </p:sp>
      <p:sp>
        <p:nvSpPr>
          <p:cNvPr id="11" name="SOP中心主题">
            <a:extLst xmlns:a="http://schemas.openxmlformats.org/drawingml/2006/main">
              <a:ext uri="{FF2B5EF4-FFF2-40B4-BE49-F238E27FC236}">
                <a16:creationId xmlns:a16="http://schemas.microsoft.com/office/drawing/2014/main" id="{0A267C34-40A5-437A-8C86-EF0712D2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10125"/>
            <a:ext cx="3333750" cy="819150"/>
          </a:xfrm>
          <a:prstGeom xmlns:a="http://schemas.openxmlformats.org/drawingml/2006/main" prst="roundRect">
            <a:avLst>
              <a:gd name="adj" fmla="val 10465"/>
            </a:avLst>
          </a:prstGeom>
          <a:solidFill xmlns:a="http://schemas.openxmlformats.org/drawingml/2006/main">
            <a:srgbClr val="BDBD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童颜面膜2.0</a:t>
            </a:r>
          </a:p>
          <a:p xmlns:a="http://schemas.openxmlformats.org/drawingml/2006/main">
            <a:pPr algn="ctr">
              <a:defRPr sz="21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直播话术 SOP</a:t>
            </a:r>
          </a:p>
        </p:txBody>
      </p:sp>
      <p:sp>
        <p:nvSpPr>
          <p:cNvPr id="12" name="SOP步骤1">
            <a:extLst xmlns:a="http://schemas.openxmlformats.org/drawingml/2006/main">
              <a:ext uri="{FF2B5EF4-FFF2-40B4-BE49-F238E27FC236}">
                <a16:creationId xmlns:a16="http://schemas.microsoft.com/office/drawing/2014/main" id="{02F1F8D9-C374-4F7B-A4E1-D3675513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1609725"/>
            <a:ext cx="3476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</a:ln>
        </p:spPr>
      </p:sp>
      <p:sp>
        <p:nvSpPr>
          <p:cNvPr id="14" name="步骤1标题">
            <a:extLst xmlns:a="http://schemas.openxmlformats.org/drawingml/2006/main">
              <a:ext uri="{FF2B5EF4-FFF2-40B4-BE49-F238E27FC236}">
                <a16:creationId xmlns:a16="http://schemas.microsoft.com/office/drawing/2014/main" id="{BFE5B37E-ECDB-49E1-897E-C84A0406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1666875"/>
            <a:ext cx="319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01  开场背书</a:t>
            </a:r>
          </a:p>
        </p:txBody>
      </p:sp>
      <p:sp>
        <p:nvSpPr>
          <p:cNvPr id="15" name="步骤1执行动作">
            <a:extLst xmlns:a="http://schemas.openxmlformats.org/drawingml/2006/main">
              <a:ext uri="{FF2B5EF4-FFF2-40B4-BE49-F238E27FC236}">
                <a16:creationId xmlns:a16="http://schemas.microsoft.com/office/drawing/2014/main" id="{41BD2865-76B1-495A-8975-02ED13D5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1933575"/>
            <a:ext cx="3190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rPr>
              <a:t>品牌积累与已核实的用户反馈</a:t>
            </a:r>
          </a:p>
        </p:txBody>
      </p:sp>
      <p:sp>
        <p:nvSpPr>
          <p:cNvPr id="16" name="SOP步骤2">
            <a:extLst xmlns:a="http://schemas.openxmlformats.org/drawingml/2006/main">
              <a:ext uri="{FF2B5EF4-FFF2-40B4-BE49-F238E27FC236}">
                <a16:creationId xmlns:a16="http://schemas.microsoft.com/office/drawing/2014/main" id="{5494D107-9D38-40E2-A00D-F52E2EC8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2333625"/>
            <a:ext cx="3476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</a:ln>
        </p:spPr>
      </p:sp>
      <p:sp>
        <p:nvSpPr>
          <p:cNvPr id="18" name="步骤2标题">
            <a:extLst xmlns:a="http://schemas.openxmlformats.org/drawingml/2006/main">
              <a:ext uri="{FF2B5EF4-FFF2-40B4-BE49-F238E27FC236}">
                <a16:creationId xmlns:a16="http://schemas.microsoft.com/office/drawing/2014/main" id="{CA0BF01D-0514-4F3C-9C2C-20B8FE31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2390775"/>
            <a:ext cx="319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02  痛点共鸣</a:t>
            </a:r>
          </a:p>
        </p:txBody>
      </p:sp>
      <p:sp>
        <p:nvSpPr>
          <p:cNvPr id="19" name="步骤2执行动作">
            <a:extLst xmlns:a="http://schemas.openxmlformats.org/drawingml/2006/main">
              <a:ext uri="{FF2B5EF4-FFF2-40B4-BE49-F238E27FC236}">
                <a16:creationId xmlns:a16="http://schemas.microsoft.com/office/drawing/2014/main" id="{F1614030-5B4E-4C8D-A633-FD7AE4CC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2657475"/>
            <a:ext cx="3190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rPr>
              <a:t>聚焦皱纹、松弛与暗沉诉求</a:t>
            </a:r>
          </a:p>
        </p:txBody>
      </p:sp>
      <p:sp>
        <p:nvSpPr>
          <p:cNvPr id="20" name="SOP步骤3">
            <a:extLst xmlns:a="http://schemas.openxmlformats.org/drawingml/2006/main">
              <a:ext uri="{FF2B5EF4-FFF2-40B4-BE49-F238E27FC236}">
                <a16:creationId xmlns:a16="http://schemas.microsoft.com/office/drawing/2014/main" id="{31DCA0A0-4167-480F-8FA5-8F60611A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3057525"/>
            <a:ext cx="3476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</a:ln>
        </p:spPr>
      </p:sp>
      <p:sp>
        <p:nvSpPr>
          <p:cNvPr id="22" name="步骤3标题">
            <a:extLst xmlns:a="http://schemas.openxmlformats.org/drawingml/2006/main">
              <a:ext uri="{FF2B5EF4-FFF2-40B4-BE49-F238E27FC236}">
                <a16:creationId xmlns:a16="http://schemas.microsoft.com/office/drawing/2014/main" id="{BEC404B1-7D5E-41F5-BFFA-AFC965BE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3114675"/>
            <a:ext cx="319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03  升级说明</a:t>
            </a:r>
          </a:p>
        </p:txBody>
      </p:sp>
      <p:sp>
        <p:nvSpPr>
          <p:cNvPr id="23" name="步骤3执行动作">
            <a:extLst xmlns:a="http://schemas.openxmlformats.org/drawingml/2006/main">
              <a:ext uri="{FF2B5EF4-FFF2-40B4-BE49-F238E27FC236}">
                <a16:creationId xmlns:a16="http://schemas.microsoft.com/office/drawing/2014/main" id="{9EB3C096-6AA3-42B7-8435-E959A1DF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3381375"/>
            <a:ext cx="3190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rPr>
              <a:t>对比1.0与2.0的核心变化</a:t>
            </a:r>
          </a:p>
        </p:txBody>
      </p:sp>
      <p:sp>
        <p:nvSpPr>
          <p:cNvPr id="24" name="SOP步骤4">
            <a:extLst xmlns:a="http://schemas.openxmlformats.org/drawingml/2006/main">
              <a:ext uri="{FF2B5EF4-FFF2-40B4-BE49-F238E27FC236}">
                <a16:creationId xmlns:a16="http://schemas.microsoft.com/office/drawing/2014/main" id="{94DFE561-A51F-412D-AC4C-D79B7618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3781425"/>
            <a:ext cx="3476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</a:ln>
        </p:spPr>
      </p:sp>
      <p:sp>
        <p:nvSpPr>
          <p:cNvPr id="26" name="步骤4标题">
            <a:extLst xmlns:a="http://schemas.openxmlformats.org/drawingml/2006/main">
              <a:ext uri="{FF2B5EF4-FFF2-40B4-BE49-F238E27FC236}">
                <a16:creationId xmlns:a16="http://schemas.microsoft.com/office/drawing/2014/main" id="{D891B7F8-630C-4DCC-A2ED-CCF17BC0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3838575"/>
            <a:ext cx="319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04  卖点转译</a:t>
            </a:r>
          </a:p>
        </p:txBody>
      </p:sp>
      <p:sp>
        <p:nvSpPr>
          <p:cNvPr id="27" name="步骤4执行动作">
            <a:extLst xmlns:a="http://schemas.openxmlformats.org/drawingml/2006/main">
              <a:ext uri="{FF2B5EF4-FFF2-40B4-BE49-F238E27FC236}">
                <a16:creationId xmlns:a16="http://schemas.microsoft.com/office/drawing/2014/main" id="{6AB887FD-1666-4CCF-B133-73D4697B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4105275"/>
            <a:ext cx="3190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rPr>
              <a:t>将成分与技术对应到用户利益</a:t>
            </a:r>
          </a:p>
        </p:txBody>
      </p:sp>
      <p:sp>
        <p:nvSpPr>
          <p:cNvPr id="28" name="SOP步骤5">
            <a:extLst xmlns:a="http://schemas.openxmlformats.org/drawingml/2006/main">
              <a:ext uri="{FF2B5EF4-FFF2-40B4-BE49-F238E27FC236}">
                <a16:creationId xmlns:a16="http://schemas.microsoft.com/office/drawing/2014/main" id="{E16C3D94-9C3E-42D4-826B-43F87AC7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4505325"/>
            <a:ext cx="3476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</a:ln>
        </p:spPr>
      </p:sp>
      <p:sp>
        <p:nvSpPr>
          <p:cNvPr id="30" name="步骤5标题">
            <a:extLst xmlns:a="http://schemas.openxmlformats.org/drawingml/2006/main">
              <a:ext uri="{FF2B5EF4-FFF2-40B4-BE49-F238E27FC236}">
                <a16:creationId xmlns:a16="http://schemas.microsoft.com/office/drawing/2014/main" id="{87EF00B4-88C0-4523-B271-B69F65EB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4562475"/>
            <a:ext cx="319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05  产品展示</a:t>
            </a:r>
          </a:p>
        </p:txBody>
      </p:sp>
      <p:sp>
        <p:nvSpPr>
          <p:cNvPr id="31" name="步骤5执行动作">
            <a:extLst xmlns:a="http://schemas.openxmlformats.org/drawingml/2006/main">
              <a:ext uri="{FF2B5EF4-FFF2-40B4-BE49-F238E27FC236}">
                <a16:creationId xmlns:a16="http://schemas.microsoft.com/office/drawing/2014/main" id="{1D509943-D209-47A5-8E5F-C627413A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4829175"/>
            <a:ext cx="3190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rPr>
              <a:t>演示步骤、肤感与使用方法</a:t>
            </a:r>
          </a:p>
        </p:txBody>
      </p:sp>
      <p:sp>
        <p:nvSpPr>
          <p:cNvPr id="32" name="SOP步骤6">
            <a:extLst xmlns:a="http://schemas.openxmlformats.org/drawingml/2006/main">
              <a:ext uri="{FF2B5EF4-FFF2-40B4-BE49-F238E27FC236}">
                <a16:creationId xmlns:a16="http://schemas.microsoft.com/office/drawing/2014/main" id="{043C269A-9770-4A4B-8E2D-B4C53C75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5229225"/>
            <a:ext cx="3476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</a:ln>
        </p:spPr>
      </p:sp>
      <p:sp>
        <p:nvSpPr>
          <p:cNvPr id="34" name="步骤6标题">
            <a:extLst xmlns:a="http://schemas.openxmlformats.org/drawingml/2006/main">
              <a:ext uri="{FF2B5EF4-FFF2-40B4-BE49-F238E27FC236}">
                <a16:creationId xmlns:a16="http://schemas.microsoft.com/office/drawing/2014/main" id="{F14FCDB2-9BCA-49A1-858F-3E1CAB94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5286375"/>
            <a:ext cx="319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06  疑虑回应</a:t>
            </a:r>
          </a:p>
        </p:txBody>
      </p:sp>
      <p:sp>
        <p:nvSpPr>
          <p:cNvPr id="35" name="步骤6执行动作">
            <a:extLst xmlns:a="http://schemas.openxmlformats.org/drawingml/2006/main">
              <a:ext uri="{FF2B5EF4-FFF2-40B4-BE49-F238E27FC236}">
                <a16:creationId xmlns:a16="http://schemas.microsoft.com/office/drawing/2014/main" id="{B131629C-EF70-4164-9EEA-2764FB66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5553075"/>
            <a:ext cx="3190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rPr>
              <a:t>用可核验资料解释用户问题</a:t>
            </a:r>
          </a:p>
        </p:txBody>
      </p:sp>
      <p:sp>
        <p:nvSpPr>
          <p:cNvPr id="36" name="SOP步骤7">
            <a:extLst xmlns:a="http://schemas.openxmlformats.org/drawingml/2006/main">
              <a:ext uri="{FF2B5EF4-FFF2-40B4-BE49-F238E27FC236}">
                <a16:creationId xmlns:a16="http://schemas.microsoft.com/office/drawing/2014/main" id="{964E90A5-5357-488D-8998-3D6DD1DE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5953125"/>
            <a:ext cx="3476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</a:ln>
        </p:spPr>
      </p:sp>
      <p:sp>
        <p:nvSpPr>
          <p:cNvPr id="38" name="步骤7标题">
            <a:extLst xmlns:a="http://schemas.openxmlformats.org/drawingml/2006/main">
              <a:ext uri="{FF2B5EF4-FFF2-40B4-BE49-F238E27FC236}">
                <a16:creationId xmlns:a16="http://schemas.microsoft.com/office/drawing/2014/main" id="{D4EFB2D0-5970-46F3-A335-CB738386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6010275"/>
            <a:ext cx="319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07  价值塑造</a:t>
            </a:r>
          </a:p>
        </p:txBody>
      </p:sp>
      <p:sp>
        <p:nvSpPr>
          <p:cNvPr id="39" name="步骤7执行动作">
            <a:extLst xmlns:a="http://schemas.openxmlformats.org/drawingml/2006/main">
              <a:ext uri="{FF2B5EF4-FFF2-40B4-BE49-F238E27FC236}">
                <a16:creationId xmlns:a16="http://schemas.microsoft.com/office/drawing/2014/main" id="{F46F368A-0E97-4C52-AF40-0A7B0FB5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6276975"/>
            <a:ext cx="3190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rPr>
              <a:t>连接护理需求与使用感受</a:t>
            </a:r>
          </a:p>
        </p:txBody>
      </p:sp>
      <p:sp>
        <p:nvSpPr>
          <p:cNvPr id="40" name="SOP步骤8">
            <a:extLst xmlns:a="http://schemas.openxmlformats.org/drawingml/2006/main">
              <a:ext uri="{FF2B5EF4-FFF2-40B4-BE49-F238E27FC236}">
                <a16:creationId xmlns:a16="http://schemas.microsoft.com/office/drawing/2014/main" id="{5D568A3E-F981-4928-A3E6-94E0A6E3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6677025"/>
            <a:ext cx="3476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</a:ln>
        </p:spPr>
      </p:sp>
      <p:sp>
        <p:nvSpPr>
          <p:cNvPr id="42" name="步骤8标题">
            <a:extLst xmlns:a="http://schemas.openxmlformats.org/drawingml/2006/main">
              <a:ext uri="{FF2B5EF4-FFF2-40B4-BE49-F238E27FC236}">
                <a16:creationId xmlns:a16="http://schemas.microsoft.com/office/drawing/2014/main" id="{BF4F7D20-7A10-4166-8CA9-EFA028DE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6734175"/>
            <a:ext cx="319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08  报价加码</a:t>
            </a:r>
          </a:p>
        </p:txBody>
      </p:sp>
      <p:sp>
        <p:nvSpPr>
          <p:cNvPr id="43" name="步骤8执行动作">
            <a:extLst xmlns:a="http://schemas.openxmlformats.org/drawingml/2006/main">
              <a:ext uri="{FF2B5EF4-FFF2-40B4-BE49-F238E27FC236}">
                <a16:creationId xmlns:a16="http://schemas.microsoft.com/office/drawing/2014/main" id="{4E0573D1-003E-4346-8BF2-3506E75A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7000875"/>
            <a:ext cx="3190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rPr>
              <a:t>讲清价格、规格与赠送权益</a:t>
            </a:r>
          </a:p>
        </p:txBody>
      </p:sp>
      <p:sp>
        <p:nvSpPr>
          <p:cNvPr id="44" name="SOP步骤9">
            <a:extLst xmlns:a="http://schemas.openxmlformats.org/drawingml/2006/main">
              <a:ext uri="{FF2B5EF4-FFF2-40B4-BE49-F238E27FC236}">
                <a16:creationId xmlns:a16="http://schemas.microsoft.com/office/drawing/2014/main" id="{785BF3E6-BCEB-441D-9388-9B80D2A2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7400925"/>
            <a:ext cx="3476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</a:ln>
        </p:spPr>
      </p:sp>
      <p:sp>
        <p:nvSpPr>
          <p:cNvPr id="46" name="步骤9标题">
            <a:extLst xmlns:a="http://schemas.openxmlformats.org/drawingml/2006/main">
              <a:ext uri="{FF2B5EF4-FFF2-40B4-BE49-F238E27FC236}">
                <a16:creationId xmlns:a16="http://schemas.microsoft.com/office/drawing/2014/main" id="{68B4A334-480A-4A75-AE00-2E60BCDF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7458075"/>
            <a:ext cx="319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09  下单引导（建议补充）</a:t>
            </a:r>
          </a:p>
        </p:txBody>
      </p:sp>
      <p:sp>
        <p:nvSpPr>
          <p:cNvPr id="47" name="步骤9执行动作">
            <a:extLst xmlns:a="http://schemas.openxmlformats.org/drawingml/2006/main">
              <a:ext uri="{FF2B5EF4-FFF2-40B4-BE49-F238E27FC236}">
                <a16:creationId xmlns:a16="http://schemas.microsoft.com/office/drawing/2014/main" id="{F298D12E-5D01-43C5-A595-5E6795CA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7724775"/>
            <a:ext cx="3190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rPr>
              <a:t>明确商品链接与购买步骤</a:t>
            </a:r>
          </a:p>
        </p:txBody>
      </p:sp>
      <p:sp>
        <p:nvSpPr>
          <p:cNvPr id="48" name="SOP步骤10">
            <a:extLst xmlns:a="http://schemas.openxmlformats.org/drawingml/2006/main">
              <a:ext uri="{FF2B5EF4-FFF2-40B4-BE49-F238E27FC236}">
                <a16:creationId xmlns:a16="http://schemas.microsoft.com/office/drawing/2014/main" id="{0C68F9CC-6FC9-4667-8A7B-AA58F795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8124825"/>
            <a:ext cx="3476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</a:ln>
        </p:spPr>
      </p:sp>
      <p:sp>
        <p:nvSpPr>
          <p:cNvPr id="50" name="步骤10标题">
            <a:extLst xmlns:a="http://schemas.openxmlformats.org/drawingml/2006/main">
              <a:ext uri="{FF2B5EF4-FFF2-40B4-BE49-F238E27FC236}">
                <a16:creationId xmlns:a16="http://schemas.microsoft.com/office/drawing/2014/main" id="{E18DC1D4-113D-4A1C-923A-64436670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8181975"/>
            <a:ext cx="319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10  售后承接（建议补充）</a:t>
            </a:r>
          </a:p>
        </p:txBody>
      </p:sp>
      <p:sp>
        <p:nvSpPr>
          <p:cNvPr id="51" name="步骤10执行动作">
            <a:extLst xmlns:a="http://schemas.openxmlformats.org/drawingml/2006/main">
              <a:ext uri="{FF2B5EF4-FFF2-40B4-BE49-F238E27FC236}">
                <a16:creationId xmlns:a16="http://schemas.microsoft.com/office/drawing/2014/main" id="{EBB155B3-9105-40AB-81B7-A4AE7BA6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8448675"/>
            <a:ext cx="3190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rPr>
              <a:t>说明使用指引与售后规则</a:t>
            </a:r>
          </a:p>
        </p:txBody>
      </p:sp>
      <p:sp>
        <p:nvSpPr>
          <p:cNvPr id="52" name="资料边界">
            <a:extLst xmlns:a="http://schemas.openxmlformats.org/drawingml/2006/main">
              <a:ext uri="{FF2B5EF4-FFF2-40B4-BE49-F238E27FC236}">
                <a16:creationId xmlns:a16="http://schemas.microsoft.com/office/drawing/2014/main" id="{21BA21EB-1F7B-448D-8191-626D1019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286875"/>
            <a:ext cx="1495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9999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99999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999999"/>
                </a:solidFill>
                <a:latin typeface="PingFang SC"/>
                <a:ea typeface="PingFang SC"/>
                <a:cs typeface="PingFang SC"/>
              </a:rPr>
              <a:t>基于直播话术片段整理，09—10为建议补充。功效与数据须经核实后使用。</a:t>
            </a:r>
          </a:p>
        </p:txBody>
      </p:sp>
    </p:spTree>
    <p:extLst>
      <p:ext uri="{BB962C8B-B14F-4D97-AF65-F5344CB8AC3E}">
        <p14:creationId xmlns:p14="http://schemas.microsoft.com/office/powerpoint/2010/main" val="12601802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2026-10-16T06:58:01.0800000Z</dcterms:created>
  <dcterms:modified xsi:type="dcterms:W3CDTF">2026-10-16T06:58:01.0810000Z</dcterms:modified>
</coreProperties>
</file>